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5"/>
  </p:normalViewPr>
  <p:slideViewPr>
    <p:cSldViewPr snapToGrid="0">
      <p:cViewPr>
        <p:scale>
          <a:sx n="98" d="100"/>
          <a:sy n="98" d="100"/>
        </p:scale>
        <p:origin x="113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DCF45-5615-9441-B5E3-5377B6534D8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41FC6-792B-8E4F-B369-BD096CFF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9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41FC6-792B-8E4F-B369-BD096CFFC4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52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E3A3-D95B-2CFB-4284-FA6A3B762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DE2AD-F366-5EAA-56CE-4F3D08463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2CEB-ABB7-B19B-C85B-097FC106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BEB2A-360B-281C-8D73-07F89C60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5ABB-FBE5-0309-3213-07E16A3B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6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2285-5290-ED2F-4B1A-867881A4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D6CB-EFC4-4390-E4CB-02022E34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AFD6E-55C5-D461-41DE-F71739FE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1CEBE-1987-2DF5-659F-7454A136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61F0-1266-93D9-80CD-4C54D460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1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9F7B-D537-D114-B61B-4F482438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72606-4E76-146C-43EF-E733527A4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7354F-8669-C98F-3D75-016DAAA1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F3898-DEA3-6981-5763-31CE1165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6D82-8781-B945-F3BB-9F049452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7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AC85-0000-D653-D811-1F72E46F7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AF6BD-BA9D-82B5-6B06-E0A90490A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914B5-450D-7C4F-6ABB-618740D21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4D404-896D-8692-D7BF-33840D33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4F1FC-9837-2065-A1DD-BBBEF803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AA176-915F-73FE-C63B-7C38E194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4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6D26-6A10-C8B3-F4A7-09B0CD78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9485D-DAFB-D6CA-3048-D70677249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F8E3E-E880-41F7-90F8-F6002C9B8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5C16D-3B97-D311-2135-9362973E8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1A3D4-7326-8B0D-FAEA-E849D3BCD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5B052E-DC8E-324A-212F-96BEDFC9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7249E-4A90-0D53-E497-C39D3620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D9C9D2-17BE-B8F8-D7A1-1E8822D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1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DADC-3D08-B220-3A8C-7E418EF9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E0AAC-B66C-87D0-2661-3C8179F8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BD50-1DFB-6712-94B8-8D704989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51FC9-180C-8CC2-BB23-BA6AEBF6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6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27214-7D7D-BC9D-7967-449444D7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8A0D4-A287-420C-F11E-88719E92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0EAC5-2252-940F-72CA-DE286AD7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8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5EB57-0774-E350-A219-2CFEDF0B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E3A73-0CAC-6711-9A1C-22A98C142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0E604-BF9D-E118-D302-C8D75371A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1B4F9-553A-FF7D-3633-E09FC231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089D1-E97E-1245-A922-150A80C5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DA73A-52D8-3515-C461-FF88F495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64F6-977D-963E-609D-D656531B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B8F181-6554-785C-1A8E-4F2692443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E5801-4434-F00D-A696-33AFA81C5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C4076-1BB7-6CB8-B360-ADAEDFC7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F174E-E179-6E53-2B8C-0ECA27BF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7B149-925E-06E6-59DB-6FFD0CD8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8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9F86-6712-A279-536B-F6544BC6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934AA-776D-2C74-E5EC-322F3F08E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B082-7CC2-984C-4332-3CFF384E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BF0C3-F23C-9C41-F6CE-5DFAA5CB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62ACC-C983-2753-850B-590AC2D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9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7FDAB-2190-9739-B0F8-B1A04402B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D7546-02B7-8F34-DE8F-E6EF4A668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9BA06-466B-4797-D2A8-25FB88E6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A003-986C-623D-AB61-8BB56876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B8F43-5CCD-2CEB-4223-6A58820A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9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C7397-2E0E-2807-4CD1-8D841576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67C39-D550-1F9D-BD12-EB00071C1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EA286-C5D9-D065-CE1C-EDFC8A5E7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D85DF-A59F-1642-BE69-9D5DABAED1D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9D775-E181-EAEC-4190-6DB48942F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DFFE6-554C-39AB-7B3A-D5B2670B7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543EC-5F28-3C43-B1FC-8E4667402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azidthe1/global-happiness-scores-and-factor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4981-7972-A873-3DCD-87F4ECCA20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World Happiness Analysis and Prediction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42246-AAF5-CC8A-1F05-623A1C989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2:</a:t>
            </a:r>
          </a:p>
          <a:p>
            <a:r>
              <a:rPr lang="en-US" dirty="0"/>
              <a:t>Keqi Zhang, </a:t>
            </a:r>
            <a:r>
              <a:rPr lang="en-US" dirty="0" err="1"/>
              <a:t>Zhichun</a:t>
            </a:r>
            <a:r>
              <a:rPr lang="en-US" dirty="0"/>
              <a:t> Xiao, </a:t>
            </a:r>
            <a:r>
              <a:rPr lang="en-US" dirty="0" err="1"/>
              <a:t>Cheritha</a:t>
            </a:r>
            <a:r>
              <a:rPr lang="en-US" dirty="0"/>
              <a:t> </a:t>
            </a:r>
            <a:r>
              <a:rPr lang="en-US" dirty="0" err="1"/>
              <a:t>Kondru</a:t>
            </a:r>
            <a:r>
              <a:rPr lang="en-US" dirty="0"/>
              <a:t>, </a:t>
            </a:r>
            <a:r>
              <a:rPr lang="en-US" dirty="0" err="1"/>
              <a:t>Junemo</a:t>
            </a:r>
            <a:r>
              <a:rPr lang="en-US" dirty="0"/>
              <a:t> Moon</a:t>
            </a:r>
          </a:p>
          <a:p>
            <a:r>
              <a:rPr lang="en-US" dirty="0"/>
              <a:t>2025FA - REGRES TIME SER 16:954:596:02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94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6CD077-D713-0694-FFB6-15522123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290" y="1348223"/>
            <a:ext cx="4603910" cy="4161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993DF3-1EBF-AA68-3E3E-39B05A74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9911"/>
            <a:ext cx="11049000" cy="1325563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076DE-0F5A-327B-3093-7A02F9D44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55474"/>
            <a:ext cx="6978490" cy="4721489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2015 up to 2023 </a:t>
            </a:r>
          </a:p>
          <a:p>
            <a:pPr fontAlgn="base"/>
            <a:r>
              <a:rPr lang="en-US" dirty="0"/>
              <a:t>1367 observations</a:t>
            </a:r>
          </a:p>
          <a:p>
            <a:pPr fontAlgn="base"/>
            <a:r>
              <a:rPr lang="en-US" dirty="0"/>
              <a:t>Western Europe/North America and ANZ/Latin America and Caribbean/Middle East and North Africa/Southeast Asia/East Asia/Central and Eastern Europe/</a:t>
            </a:r>
            <a:br>
              <a:rPr lang="en-US" dirty="0"/>
            </a:br>
            <a:r>
              <a:rPr lang="en-US" dirty="0"/>
              <a:t>Africa/Sub-Saharan Africa/Commonwealth of Independent States</a:t>
            </a:r>
            <a:endParaRPr lang="en-US" dirty="0">
              <a:hlinkClick r:id="rId3"/>
            </a:endParaRPr>
          </a:p>
          <a:p>
            <a:pPr marL="0" indent="0" algn="ctr">
              <a:buNone/>
            </a:pPr>
            <a:endParaRPr lang="en-US" sz="2000" dirty="0">
              <a:hlinkClick r:id="rId3"/>
            </a:endParaRPr>
          </a:p>
          <a:p>
            <a:pPr marL="0" indent="0" algn="ctr">
              <a:buNone/>
            </a:pPr>
            <a:r>
              <a:rPr lang="en-US" sz="1900" dirty="0"/>
              <a:t> Kaggle – Global Happiness Scores and Factors (2015–2023)</a:t>
            </a:r>
            <a:endParaRPr lang="en-US" sz="1500" dirty="0">
              <a:hlinkClick r:id="rId3"/>
            </a:endParaRPr>
          </a:p>
          <a:p>
            <a:pPr marL="0" indent="0" algn="ctr">
              <a:buNone/>
            </a:pPr>
            <a:r>
              <a:rPr lang="en-US" sz="2000" dirty="0">
                <a:hlinkClick r:id="rId3"/>
              </a:rPr>
              <a:t>https://www.kaggle.com/datasets/sazidthe1/global-happiness-scores-and-factors</a:t>
            </a:r>
            <a:endParaRPr lang="en-US" sz="2000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59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8956-441F-E755-C5D3-ED5E4180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7EE5-24F3-257F-8828-A0C0FE89D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3E5FF-07FB-CA92-6939-E068CA1BA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8" y="157348"/>
            <a:ext cx="12029704" cy="654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2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F3BF-905F-3033-5FC1-BDC13B34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38590"/>
            <a:ext cx="10439400" cy="1081088"/>
          </a:xfrm>
        </p:spPr>
        <p:txBody>
          <a:bodyPr/>
          <a:lstStyle/>
          <a:p>
            <a:r>
              <a:rPr lang="en-US" dirty="0"/>
              <a:t>Regression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508469-2A21-1666-F995-4FD47D443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120" y="1404344"/>
            <a:ext cx="7473950" cy="1214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22B331-7E57-A2B0-F461-596888AFA89A}"/>
              </a:ext>
            </a:extLst>
          </p:cNvPr>
          <p:cNvSpPr txBox="1"/>
          <p:nvPr/>
        </p:nvSpPr>
        <p:spPr>
          <a:xfrm>
            <a:off x="645160" y="1035012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ArialMT"/>
              </a:rPr>
              <a:t>2015-2022 data as the training set and the 2023 data as the testing set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4F349-EEC8-F01A-A9BB-EFB36287A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649" y="2536751"/>
            <a:ext cx="6395421" cy="418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A73B-EABC-86A6-34DE-724779DF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Relationship between response variable &amp; six explanatory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45DF0-129F-23F8-6F2E-3077D1A7B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49800" cy="4351338"/>
              </a:xfrm>
            </p:spPr>
            <p:txBody>
              <a:bodyPr/>
              <a:lstStyle/>
              <a:p>
                <a:r>
                  <a:rPr lang="en-US" dirty="0"/>
                  <a:t>Positive Correlations</a:t>
                </a:r>
              </a:p>
              <a:p>
                <a:r>
                  <a:rPr lang="en-US" dirty="0"/>
                  <a:t>the Happiness Score tends to increase, which is consistent with the positive coefficients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dirty="0"/>
                  <a:t>)reported in the regression results.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45DF0-129F-23F8-6F2E-3077D1A7B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49800" cy="4351338"/>
              </a:xfrm>
              <a:blipFill>
                <a:blip r:embed="rId2"/>
                <a:stretch>
                  <a:fillRect l="-2400" t="-2326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99BCB6A-2723-CEDD-E70B-9F91EB5F3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684228"/>
            <a:ext cx="6705600" cy="456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4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63F0-372E-7BE1-DBA6-5F34E193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map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B601-DDD7-6528-6245-E80819B9C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359296"/>
            <a:ext cx="5461000" cy="51490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Red/Dark Orange (Closer to 1.0): Indicates a strong positive correlation.</a:t>
            </a:r>
          </a:p>
          <a:p>
            <a:r>
              <a:rPr lang="en-US" dirty="0" err="1"/>
              <a:t>gdp_per_capita</a:t>
            </a:r>
            <a:r>
              <a:rPr lang="en-US" dirty="0"/>
              <a:t>=0.72 is </a:t>
            </a:r>
            <a:r>
              <a:rPr lang="en-US" b="1" dirty="0"/>
              <a:t>strongest</a:t>
            </a:r>
            <a:r>
              <a:rPr lang="en-US" dirty="0"/>
              <a:t> positive correlation; higher GDP is associated with higher happiness.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Comparing the correlation from the heatmap to the regression coefficients</a:t>
            </a:r>
          </a:p>
          <a:p>
            <a:r>
              <a:rPr lang="en-US" dirty="0"/>
              <a:t>bivariate relationship and a multivariate relation</a:t>
            </a:r>
          </a:p>
        </p:txBody>
      </p:sp>
      <p:pic>
        <p:nvPicPr>
          <p:cNvPr id="1026" name="Picture 2" descr="page3image46570816">
            <a:extLst>
              <a:ext uri="{FF2B5EF4-FFF2-40B4-BE49-F238E27FC236}">
                <a16:creationId xmlns:a16="http://schemas.microsoft.com/office/drawing/2014/main" id="{666C82AE-E2AC-B72A-167F-E0E9F7C8B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335" y="1850231"/>
            <a:ext cx="5902331" cy="416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95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06D0-FB83-861D-B28F-EFAD7244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3" y="252221"/>
            <a:ext cx="10515600" cy="1325563"/>
          </a:xfrm>
        </p:spPr>
        <p:txBody>
          <a:bodyPr/>
          <a:lstStyle/>
          <a:p>
            <a:r>
              <a:rPr lang="en-US" dirty="0"/>
              <a:t>Prediction performance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86B41B-3696-926E-736C-78AAB1EA3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4210264"/>
            <a:ext cx="7820652" cy="2395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694DB-C9D2-23F3-F449-2C232A7C7CB1}"/>
              </a:ext>
            </a:extLst>
          </p:cNvPr>
          <p:cNvSpPr txBox="1"/>
          <p:nvPr/>
        </p:nvSpPr>
        <p:spPr>
          <a:xfrm>
            <a:off x="470263" y="1449978"/>
            <a:ext cx="112471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RMSE</a:t>
            </a:r>
            <a:r>
              <a:rPr lang="en-US" sz="2400" dirty="0"/>
              <a:t> (Root Mean Square Error) quantifies the average magnitude of errors between predicted values from a model and actual observed values, calculated as the square root of the average of the squared differences, indicating model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MAE</a:t>
            </a:r>
            <a:r>
              <a:rPr lang="en-US" sz="2400" dirty="0"/>
              <a:t>(mean absolute error) is a measure of the average magnitude of errors between paired observations.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calculated by summing the absolute differences between predictions and actual values, then dividing by the number of observations.</a:t>
            </a:r>
          </a:p>
        </p:txBody>
      </p:sp>
    </p:spTree>
    <p:extLst>
      <p:ext uri="{BB962C8B-B14F-4D97-AF65-F5344CB8AC3E}">
        <p14:creationId xmlns:p14="http://schemas.microsoft.com/office/powerpoint/2010/main" val="30612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0BF6-FF8B-213D-71A9-AFE20D7B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EBC66-D80B-2B5A-DA65-05B74F4CD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72989" cy="4351338"/>
          </a:xfrm>
        </p:spPr>
        <p:txBody>
          <a:bodyPr>
            <a:normAutofit/>
          </a:bodyPr>
          <a:lstStyle/>
          <a:p>
            <a:r>
              <a:rPr lang="en-US" b="1" dirty="0"/>
              <a:t>Overall Fit:</a:t>
            </a:r>
            <a:r>
              <a:rPr lang="en-US" dirty="0"/>
              <a:t> The majority of the blue data points cluster tightly around the red line, indicating that the model's predictions are highly accurate for most countries in 2023. (perfect prediction line.)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4F46B-ABFF-7A66-96F1-1D0CEED3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8"/>
          <a:stretch>
            <a:fillRect/>
          </a:stretch>
        </p:blipFill>
        <p:spPr>
          <a:xfrm>
            <a:off x="5199017" y="1525179"/>
            <a:ext cx="6844937" cy="454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0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4B43-8B6E-0D4D-292D-D8BB7A84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Predicted average happiness scores across major world regions in 2023 (including error)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785D9D-1399-B02C-3CC4-887019B2D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61" r="8705"/>
          <a:stretch>
            <a:fillRect/>
          </a:stretch>
        </p:blipFill>
        <p:spPr>
          <a:xfrm>
            <a:off x="5488577" y="1410789"/>
            <a:ext cx="5865223" cy="4909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7C5FF5-F194-B265-3C47-C07666A5A7EB}"/>
              </a:ext>
            </a:extLst>
          </p:cNvPr>
          <p:cNvSpPr txBox="1"/>
          <p:nvPr/>
        </p:nvSpPr>
        <p:spPr>
          <a:xfrm>
            <a:off x="838201" y="1410789"/>
            <a:ext cx="465037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The two regions predicted to be the happiest are at the top of the chart:</a:t>
            </a:r>
          </a:p>
          <a:p>
            <a:r>
              <a:rPr lang="en-US" altLang="zh-CN" sz="2000" dirty="0"/>
              <a:t>       North America and Western Europe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black “H” bars represent the </a:t>
            </a:r>
            <a:r>
              <a:rPr lang="en-US" sz="2000" b="1" dirty="0"/>
              <a:t>prediction error</a:t>
            </a:r>
            <a:r>
              <a:rPr lang="en-US" sz="2000" dirty="0"/>
              <a:t> or margin of error associated with that regional average.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fact that these error bars are relatively small indicates that the model's predictions are </a:t>
            </a:r>
            <a:r>
              <a:rPr lang="en-US" sz="2000" b="1" dirty="0"/>
              <a:t>precise</a:t>
            </a:r>
            <a:r>
              <a:rPr lang="en-US" sz="2000" dirty="0"/>
              <a:t>. This is consistent with the low overall error metrics (MAE and RMSE) found in the model's performance analysis.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81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0122-AD91-7E81-F2AD-CE8F8099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49" y="365125"/>
            <a:ext cx="10948851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Hypothesis 1: Does Corruption Affect Happiness After Controlling for GDP?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CBC4A-55A5-E910-B77D-40425482D7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4949" y="1690688"/>
                <a:ext cx="10948851" cy="480218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Null Hypothesis (H₀):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controlling for GDP, corruption has no additional effect on happiness.</a:t>
                </a:r>
              </a:p>
              <a:p>
                <a:pPr marL="0" indent="0" algn="ctr">
                  <a:buNone/>
                </a:pPr>
                <a:r>
                  <a:rPr lang="en-US" dirty="0"/>
                  <a:t>H0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aseline="-25000" dirty="0" smtClean="0"/>
                      <m:t>Corruptio</m:t>
                    </m:r>
                  </m:oMath>
                </a14:m>
                <a:r>
                  <a:rPr lang="en-US" dirty="0"/>
                  <a:t>= 0</a:t>
                </a:r>
              </a:p>
              <a:p>
                <a:r>
                  <a:rPr lang="en-US" b="1" dirty="0"/>
                  <a:t>Alternative Hypothesis (H₁):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controlling for GDP, corruption does affect happiness.</a:t>
                </a:r>
              </a:p>
              <a:p>
                <a:pPr marL="0" indent="0" algn="ctr">
                  <a:buNone/>
                </a:pPr>
                <a:r>
                  <a:rPr lang="en-US" dirty="0"/>
                  <a:t>H1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aseline="-25000" dirty="0" smtClean="0"/>
                      <m:t>Corruptio</m:t>
                    </m:r>
                    <m:r>
                      <m:rPr>
                        <m:nor/>
                      </m:rPr>
                      <a:rPr lang="en-US" b="0" i="0" baseline="-25000" dirty="0" smtClean="0"/>
                      <m:t>n</m:t>
                    </m:r>
                  </m:oMath>
                </a14:m>
                <a:r>
                  <a:rPr lang="en-US" dirty="0"/>
                  <a:t>≠ 0</a:t>
                </a:r>
              </a:p>
              <a:p>
                <a:r>
                  <a:rPr lang="en-US" b="1" dirty="0"/>
                  <a:t>Regression Model: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estimate the following model: </a:t>
                </a:r>
              </a:p>
              <a:p>
                <a:pPr marL="0" indent="0" algn="ctr">
                  <a:buNone/>
                </a:pPr>
                <a:r>
                  <a:rPr lang="en-US" dirty="0"/>
                  <a:t>Happiness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l-GR" dirty="0"/>
                  <a:t> +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𝐺𝐷𝑃</m:t>
                    </m:r>
                  </m:oMath>
                </a14:m>
                <a:r>
                  <a:rPr lang="el-GR" baseline="-25000" dirty="0"/>
                  <a:t> </a:t>
                </a:r>
                <a:r>
                  <a:rPr lang="en-US" dirty="0"/>
                  <a:t>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corruption</m:t>
                    </m:r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l-GR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CBC4A-55A5-E910-B77D-40425482D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949" y="1690688"/>
                <a:ext cx="10948851" cy="4802187"/>
              </a:xfrm>
              <a:blipFill>
                <a:blip r:embed="rId2"/>
                <a:stretch>
                  <a:fillRect l="-1042" t="-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550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B01A-883A-1004-7BD1-DAC11EA7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95569-C2B8-4FA0-FC3D-C30A7CC7A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F59AB-C152-D509-1A2A-34EB98FC8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016" y="365125"/>
            <a:ext cx="8809967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4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664D-F73C-23FC-1720-57D43891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5BE4E2-F453-4B40-D462-537C2A8EC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Extremely Small p-value</a:t>
                </a:r>
                <a:r>
                  <a:rPr lang="en-US" dirty="0"/>
                  <a:t>: The corruption coefficient is highly significant.(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−16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b="1" dirty="0"/>
                  <a:t>Comparison to</a:t>
                </a:r>
                <a14:m>
                  <m:oMath xmlns:m="http://schemas.openxmlformats.org/officeDocument/2006/math">
                    <m:r>
                      <a:rPr lang="zh-CN" alt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: We compare the p-value to the standard significance level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/>
                      <m:t>𝜶</m:t>
                    </m:r>
                  </m:oMath>
                </a14:m>
                <a:r>
                  <a:rPr lang="en-US" dirty="0"/>
                  <a:t>, which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.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&lt;0.05</m:t>
                    </m:r>
                  </m:oMath>
                </a14:m>
                <a:r>
                  <a:rPr lang="en-US" dirty="0"/>
                  <a:t> we have strong evidence to reject the Null Hypothesis.</a:t>
                </a:r>
              </a:p>
              <a:p>
                <a:r>
                  <a:rPr lang="en-US" b="1" dirty="0"/>
                  <a:t>Conclusion</a:t>
                </a:r>
                <a:r>
                  <a:rPr lang="en-US" dirty="0"/>
                  <a:t>: Rejecting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m:rPr>
                        <m:nor/>
                      </m:rPr>
                      <a:rPr lang="en-US" baseline="-25000" dirty="0" smtClean="0"/>
                      <m:t>Corruption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means that Corruption does affect Happiness after controlling for GDP4. The coefficient of 1.90772</a:t>
                </a:r>
                <a:r>
                  <a:rPr lang="zh-CN" altLang="en-US" dirty="0"/>
                  <a:t> </a:t>
                </a:r>
                <a:r>
                  <a:rPr lang="en-US" dirty="0"/>
                  <a:t>is statistically different from zero, confirming that Corruption provides significant additional explanatory power beyond economic.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5BE4E2-F453-4B40-D462-537C2A8EC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225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43DC-9535-FA80-5AB5-EB4513862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Output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2B568EC-BCBE-442E-94DE-E5E761DCA1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CCAFE23A-892D-304F-31DF-F3556FD6E9B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535860" y="1825625"/>
            <a:ext cx="42233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The Counterintuitive result: as Corruption Perception increases Happiness increases.</a:t>
            </a:r>
          </a:p>
          <a:p>
            <a:r>
              <a:rPr lang="en-US" dirty="0"/>
              <a:t>Higher X-values = LESS corruption perceived in the dataset.</a:t>
            </a:r>
          </a:p>
          <a:p>
            <a:endParaRPr lang="en-US" dirty="0"/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84B3A98F-CDAE-6284-6B7B-4648707AD5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F6CB1A-618B-5812-B518-023E76BCA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634" y="787422"/>
            <a:ext cx="70493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89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C556-FE0D-C0C5-1761-7377A14C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C645-42B4-4D7C-3296-08D216BFF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0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615</Words>
  <Application>Microsoft Macintosh PowerPoint</Application>
  <PresentationFormat>Widescreen</PresentationFormat>
  <Paragraphs>53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ArialMT</vt:lpstr>
      <vt:lpstr>Aptos</vt:lpstr>
      <vt:lpstr>Aptos Display</vt:lpstr>
      <vt:lpstr>Arial</vt:lpstr>
      <vt:lpstr>Cambria Math</vt:lpstr>
      <vt:lpstr>Office Theme</vt:lpstr>
      <vt:lpstr>World Happiness Analysis and Prediction</vt:lpstr>
      <vt:lpstr>Dataset</vt:lpstr>
      <vt:lpstr>PowerPoint Presentation</vt:lpstr>
      <vt:lpstr>Regression model</vt:lpstr>
      <vt:lpstr>Relationship between response variable &amp; six explanatory variables</vt:lpstr>
      <vt:lpstr>Heat map  </vt:lpstr>
      <vt:lpstr>Prediction performance</vt:lpstr>
      <vt:lpstr>Prediction performance</vt:lpstr>
      <vt:lpstr>Predicted average happiness scores across major world regions in 2023 (including error)  </vt:lpstr>
      <vt:lpstr> Hypothesis 1: Does Corruption Affect Happiness After Controlling for GDP? </vt:lpstr>
      <vt:lpstr>PowerPoint Presentation</vt:lpstr>
      <vt:lpstr>Model Output</vt:lpstr>
      <vt:lpstr>Model 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keqi zhang</dc:creator>
  <cp:lastModifiedBy>keqi zhang</cp:lastModifiedBy>
  <cp:revision>1</cp:revision>
  <dcterms:created xsi:type="dcterms:W3CDTF">2025-12-07T22:28:32Z</dcterms:created>
  <dcterms:modified xsi:type="dcterms:W3CDTF">2025-12-08T16:43:21Z</dcterms:modified>
</cp:coreProperties>
</file>