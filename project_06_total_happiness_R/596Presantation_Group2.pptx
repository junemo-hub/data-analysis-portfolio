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7" r:id="rId12"/>
    <p:sldId id="266" r:id="rId13"/>
    <p:sldId id="268" r:id="rId14"/>
    <p:sldId id="269" r:id="rId15"/>
    <p:sldId id="272" r:id="rId16"/>
    <p:sldId id="271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19"/>
    <p:restoredTop sz="94665"/>
  </p:normalViewPr>
  <p:slideViewPr>
    <p:cSldViewPr snapToGrid="0">
      <p:cViewPr>
        <p:scale>
          <a:sx n="104" d="100"/>
          <a:sy n="104" d="100"/>
        </p:scale>
        <p:origin x="72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ADCF45-5615-9441-B5E3-5377B6534D8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E41FC6-792B-8E4F-B369-BD096CFFC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599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average, our model’s predictions are off by about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0.551 points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from the actual happiness score.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average, our model’s predictions are off by about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0.394 points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absolute terms.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41FC6-792B-8E4F-B369-BD096CFFC4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52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41FC6-792B-8E4F-B369-BD096CFFC4F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695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41FC6-792B-8E4F-B369-BD096CFFC4F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521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41FC6-792B-8E4F-B369-BD096CFFC4F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986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41FC6-792B-8E4F-B369-BD096CFFC4F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6999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Line shows if impact is increasing, decreasing, or stable over time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41FC6-792B-8E4F-B369-BD096CFFC4F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901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EE3A3-D95B-2CFB-4284-FA6A3B7626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4DE2AD-F366-5EAA-56CE-4F3D08463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12CEB-ABB7-B19B-C85B-097FC106E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85DF-A59F-1642-BE69-9D5DABAED1D5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BEB2A-360B-281C-8D73-07F89C609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65ABB-FBE5-0309-3213-07E16A3B0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43EC-5F28-3C43-B1FC-8E4667402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63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F2285-5290-ED2F-4B1A-867881A4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6D6CB-EFC4-4390-E4CB-02022E344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AFD6E-55C5-D461-41DE-F71739FE0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85DF-A59F-1642-BE69-9D5DABAED1D5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1CEBE-1987-2DF5-659F-7454A1362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D61F0-1266-93D9-80CD-4C54D460C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43EC-5F28-3C43-B1FC-8E4667402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612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A9F7B-D537-D114-B61B-4F482438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72606-4E76-146C-43EF-E733527A4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7354F-8669-C98F-3D75-016DAAA11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85DF-A59F-1642-BE69-9D5DABAED1D5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F3898-DEA3-6981-5763-31CE11651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26D82-8781-B945-F3BB-9F049452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43EC-5F28-3C43-B1FC-8E4667402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176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7AC85-0000-D653-D811-1F72E46F7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AF6BD-BA9D-82B5-6B06-E0A90490AF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A914B5-450D-7C4F-6ABB-618740D21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4D404-896D-8692-D7BF-33840D335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85DF-A59F-1642-BE69-9D5DABAED1D5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4F1FC-9837-2065-A1DD-BBBEF8034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AA176-915F-73FE-C63B-7C38E1946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43EC-5F28-3C43-B1FC-8E4667402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448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66D26-6A10-C8B3-F4A7-09B0CD78D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9485D-DAFB-D6CA-3048-D70677249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6F8E3E-E880-41F7-90F8-F6002C9B8D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F5C16D-3B97-D311-2135-9362973E89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01A3D4-7326-8B0D-FAEA-E849D3BCD5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5B052E-DC8E-324A-212F-96BEDFC90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85DF-A59F-1642-BE69-9D5DABAED1D5}" type="datetimeFigureOut">
              <a:rPr lang="en-US" smtClean="0"/>
              <a:t>12/9/25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C7249E-4A90-0D53-E497-C39D36207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D9C9D2-17BE-B8F8-D7A1-1E8822D03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43EC-5F28-3C43-B1FC-8E4667402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616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EDADC-3D08-B220-3A8C-7E418EF98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0E0AAC-B66C-87D0-2661-3C8179F8D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85DF-A59F-1642-BE69-9D5DABAED1D5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05BD50-1DFB-6712-94B8-8D704989C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E51FC9-180C-8CC2-BB23-BA6AEBF6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43EC-5F28-3C43-B1FC-8E4667402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465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227214-7D7D-BC9D-7967-449444D73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85DF-A59F-1642-BE69-9D5DABAED1D5}" type="datetimeFigureOut">
              <a:rPr lang="en-US" smtClean="0"/>
              <a:t>12/9/25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B8A0D4-A287-420C-F11E-88719E928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0EAC5-2252-940F-72CA-DE286AD7D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43EC-5F28-3C43-B1FC-8E4667402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08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5EB57-0774-E350-A219-2CFEDF0B2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E3A73-0CAC-6711-9A1C-22A98C142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D0E604-BF9D-E118-D302-C8D75371A3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1B4F9-553A-FF7D-3633-E09FC2310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85DF-A59F-1642-BE69-9D5DABAED1D5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D089D1-E97E-1245-A922-150A80C59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DDA73A-52D8-3515-C461-FF88F495B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43EC-5F28-3C43-B1FC-8E4667402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66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064F6-977D-963E-609D-D656531B3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B8F181-6554-785C-1A8E-4F26924435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E5801-4434-F00D-A696-33AFA81C5E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2C4076-1BB7-6CB8-B360-ADAEDFC7E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85DF-A59F-1642-BE69-9D5DABAED1D5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EF174E-E179-6E53-2B8C-0ECA27BFC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B7B149-925E-06E6-59DB-6FFD0CD8C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43EC-5F28-3C43-B1FC-8E4667402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983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89F86-6712-A279-536B-F6544BC66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A934AA-776D-2C74-E5EC-322F3F08E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4B082-7CC2-984C-4332-3CFF384ED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85DF-A59F-1642-BE69-9D5DABAED1D5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BF0C3-F23C-9C41-F6CE-5DFAA5CBF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62ACC-C983-2753-850B-590AC2D30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43EC-5F28-3C43-B1FC-8E4667402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595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87FDAB-2190-9739-B0F8-B1A04402B0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D7546-02B7-8F34-DE8F-E6EF4A6686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9BA06-466B-4797-D2A8-25FB88E66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85DF-A59F-1642-BE69-9D5DABAED1D5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FA003-986C-623D-AB61-8BB56876A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B8F43-5CCD-2CEB-4223-6A58820A4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43EC-5F28-3C43-B1FC-8E4667402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792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AC7397-2E0E-2807-4CD1-8D8415762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67C39-D550-1F9D-BD12-EB00071C1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EA286-C5D9-D065-CE1C-EDFC8A5E7E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BD85DF-A59F-1642-BE69-9D5DABAED1D5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9D775-E181-EAEC-4190-6DB48942F5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DFFE6-554C-39AB-7B3A-D5B2670B7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D543EC-5F28-3C43-B1FC-8E4667402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33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azidthe1/global-happiness-scores-and-factor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E4981-7972-A873-3DCD-87F4ECCA20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World Happiness Analysis and Prediction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F42246-AAF5-CC8A-1F05-623A1C989F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Group 2:</a:t>
            </a:r>
          </a:p>
          <a:p>
            <a:r>
              <a:rPr lang="en-US" dirty="0"/>
              <a:t>Keqi Zhang, </a:t>
            </a:r>
            <a:r>
              <a:rPr lang="en-US" dirty="0" err="1"/>
              <a:t>Zhichun</a:t>
            </a:r>
            <a:r>
              <a:rPr lang="en-US" dirty="0"/>
              <a:t> Xiao, </a:t>
            </a:r>
            <a:r>
              <a:rPr lang="en-US" dirty="0" err="1"/>
              <a:t>Cheritha</a:t>
            </a:r>
            <a:r>
              <a:rPr lang="en-US" dirty="0"/>
              <a:t> </a:t>
            </a:r>
            <a:r>
              <a:rPr lang="en-US" dirty="0" err="1"/>
              <a:t>Kondru</a:t>
            </a:r>
            <a:r>
              <a:rPr lang="en-US" dirty="0"/>
              <a:t>, </a:t>
            </a:r>
            <a:r>
              <a:rPr lang="en-US" dirty="0" err="1"/>
              <a:t>Junemo</a:t>
            </a:r>
            <a:r>
              <a:rPr lang="en-US" dirty="0"/>
              <a:t> Moon</a:t>
            </a:r>
          </a:p>
          <a:p>
            <a:r>
              <a:rPr lang="en-US" dirty="0"/>
              <a:t>2025FA - REGRES TIME SER 16:954:596:02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194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6CD077-D713-0694-FFB6-155221237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290" y="1348223"/>
            <a:ext cx="4603910" cy="41615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993DF3-1EBF-AA68-3E3E-39B05A745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29911"/>
            <a:ext cx="11049000" cy="1325563"/>
          </a:xfrm>
        </p:spPr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076DE-0F5A-327B-3093-7A02F9D44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55474"/>
            <a:ext cx="6978490" cy="4721489"/>
          </a:xfrm>
        </p:spPr>
        <p:txBody>
          <a:bodyPr>
            <a:normAutofit/>
          </a:bodyPr>
          <a:lstStyle/>
          <a:p>
            <a:pPr fontAlgn="base"/>
            <a:r>
              <a:rPr lang="en-US" sz="2600" dirty="0"/>
              <a:t>2015 up to 2023 </a:t>
            </a:r>
          </a:p>
          <a:p>
            <a:pPr fontAlgn="base"/>
            <a:r>
              <a:rPr lang="en-US" sz="2600" dirty="0"/>
              <a:t>1367 observations</a:t>
            </a:r>
          </a:p>
          <a:p>
            <a:pPr fontAlgn="base"/>
            <a:r>
              <a:rPr lang="en-US" sz="2600" dirty="0"/>
              <a:t>10 Region: Western Europe/North America and ANZ/Latin America and Caribbean/Middle East and North Africa/Southeast Asia/East Asia/Central and Eastern Europe/Africa/Sub-Saharan Africa/Commonwealth of Independent States</a:t>
            </a:r>
            <a:endParaRPr lang="en-US" sz="1700" dirty="0">
              <a:hlinkClick r:id="rId3"/>
            </a:endParaRPr>
          </a:p>
          <a:p>
            <a:pPr marL="0" indent="0" algn="ctr">
              <a:buNone/>
            </a:pPr>
            <a:r>
              <a:rPr lang="en-US" sz="1700" dirty="0"/>
              <a:t> Kaggle – Global Happiness Scores and Factors (2015–2023)</a:t>
            </a:r>
            <a:endParaRPr lang="en-US" sz="1700" dirty="0">
              <a:hlinkClick r:id="rId3"/>
            </a:endParaRPr>
          </a:p>
          <a:p>
            <a:pPr marL="0" indent="0" algn="ctr">
              <a:buNone/>
            </a:pPr>
            <a:r>
              <a:rPr lang="en-US" sz="1700" dirty="0">
                <a:hlinkClick r:id="rId3"/>
              </a:rPr>
              <a:t>https://www.kaggle.com/datasets/sazidthe1/global-happiness-scores-and-factors</a:t>
            </a:r>
            <a:endParaRPr lang="en-US" sz="1700" dirty="0"/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590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18956-441F-E755-C5D3-ED5E41805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17EE5-24F3-257F-8828-A0C0FE89D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53E5FF-07FB-CA92-6939-E068CA1BA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48" y="157348"/>
            <a:ext cx="12029704" cy="654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228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4F3BF-905F-3033-5FC1-BDC13B342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138590"/>
            <a:ext cx="10439400" cy="1081088"/>
          </a:xfrm>
        </p:spPr>
        <p:txBody>
          <a:bodyPr/>
          <a:lstStyle/>
          <a:p>
            <a:r>
              <a:rPr lang="en-US" dirty="0"/>
              <a:t>Regression model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3508469-2A21-1666-F995-4FD47D4439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8450" y="942679"/>
            <a:ext cx="7473950" cy="12146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24F349-EEC8-F01A-A9BB-EFB36287A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256" y="2157318"/>
            <a:ext cx="6975586" cy="456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5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5A73B-EABC-86A6-34DE-724779DF1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Relationship between dependent variable &amp; six explanatory variables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045DF0-129F-23F8-6F2E-3077D1A7B4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7498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600" dirty="0"/>
                  <a:t>The Happiness Score tends to increase, which is consistent with the positive coefficients (</a:t>
                </a:r>
                <a14:m>
                  <m:oMath xmlns:m="http://schemas.openxmlformats.org/officeDocument/2006/math">
                    <m:r>
                      <a:rPr lang="en-US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𝑣𝑎𝑙𝑢𝑒</m:t>
                    </m:r>
                  </m:oMath>
                </a14:m>
                <a:r>
                  <a:rPr lang="en-US" sz="26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</a:t>
                </a:r>
                <a:r>
                  <a:rPr lang="en-US" sz="2600" dirty="0"/>
                  <a:t>)reported in the regression results.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045DF0-129F-23F8-6F2E-3077D1A7B4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749800" cy="4351338"/>
              </a:xfrm>
              <a:blipFill>
                <a:blip r:embed="rId2"/>
                <a:stretch>
                  <a:fillRect l="-2133" t="-2035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99BCB6A-2723-CEDD-E70B-9F91EB5F3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0" y="1684228"/>
            <a:ext cx="6705600" cy="456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749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F63F0-372E-7BE1-DBA6-5F34E1930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 map 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B601-DDD7-6528-6245-E80819B9C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359296"/>
            <a:ext cx="5461000" cy="5149057"/>
          </a:xfrm>
        </p:spPr>
        <p:txBody>
          <a:bodyPr>
            <a:normAutofit/>
          </a:bodyPr>
          <a:lstStyle/>
          <a:p>
            <a:r>
              <a:rPr lang="en-US" sz="2600" dirty="0"/>
              <a:t>Red/Dark Orange (Closer to 1.0): Indicates a strong positive correlation.</a:t>
            </a:r>
          </a:p>
          <a:p>
            <a:r>
              <a:rPr lang="en-US" sz="2600" dirty="0" err="1"/>
              <a:t>GDP_per_capita</a:t>
            </a:r>
            <a:r>
              <a:rPr lang="en-US" sz="2600" dirty="0"/>
              <a:t>=0.72 is </a:t>
            </a:r>
            <a:r>
              <a:rPr lang="en-US" sz="2600" b="1" dirty="0"/>
              <a:t>strongest</a:t>
            </a:r>
            <a:r>
              <a:rPr lang="en-US" sz="2600" dirty="0"/>
              <a:t> positive correlation; higher GDP is associated with higher happiness.</a:t>
            </a:r>
          </a:p>
          <a:p>
            <a:endParaRPr lang="en-US" sz="2600" dirty="0"/>
          </a:p>
          <a:p>
            <a:pPr marL="0" indent="0">
              <a:buNone/>
            </a:pPr>
            <a:r>
              <a:rPr lang="en-US" sz="2600" dirty="0"/>
              <a:t>Comparing the correlation from the heatmap to the regression coefficients</a:t>
            </a:r>
          </a:p>
          <a:p>
            <a:r>
              <a:rPr lang="en-US" sz="2600" dirty="0"/>
              <a:t>bivariate relationship and a multivariate relation</a:t>
            </a:r>
          </a:p>
        </p:txBody>
      </p:sp>
      <p:pic>
        <p:nvPicPr>
          <p:cNvPr id="1026" name="Picture 2" descr="page3image46570816">
            <a:extLst>
              <a:ext uri="{FF2B5EF4-FFF2-40B4-BE49-F238E27FC236}">
                <a16:creationId xmlns:a16="http://schemas.microsoft.com/office/drawing/2014/main" id="{666C82AE-E2AC-B72A-167F-E0E9F7C8B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5335" y="1850231"/>
            <a:ext cx="5902331" cy="416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9959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60BF6-FF8B-213D-71A9-AFE20D7B5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EBC66-D80B-2B5A-DA65-05B74F4CD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512" y="1525179"/>
            <a:ext cx="4183677" cy="4651784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ArialMT"/>
              </a:rPr>
              <a:t>2015-2022 data as the training set and the 2023 data as the testing set </a:t>
            </a:r>
            <a:endParaRPr lang="en-US" sz="2600" dirty="0"/>
          </a:p>
          <a:p>
            <a:endParaRPr lang="en-US" sz="2600" b="1" dirty="0"/>
          </a:p>
          <a:p>
            <a:r>
              <a:rPr lang="en-US" sz="2600" b="1" dirty="0"/>
              <a:t>Overall Fit:</a:t>
            </a:r>
            <a:r>
              <a:rPr lang="en-US" sz="2600" dirty="0"/>
              <a:t> The majority of the blue data points cluster tightly around the red line, indicating that the model's predictions are highly accurate for most countries in 2023. (perfect prediction line.)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E4F46B-ABFF-7A66-96F1-1D0CEED336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68"/>
          <a:stretch>
            <a:fillRect/>
          </a:stretch>
        </p:blipFill>
        <p:spPr>
          <a:xfrm>
            <a:off x="5199017" y="1525179"/>
            <a:ext cx="6844937" cy="454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207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806D0-FB83-861D-B28F-EFAD7244C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023" y="0"/>
            <a:ext cx="10515600" cy="1325563"/>
          </a:xfrm>
        </p:spPr>
        <p:txBody>
          <a:bodyPr/>
          <a:lstStyle/>
          <a:p>
            <a:r>
              <a:rPr lang="en-US" dirty="0"/>
              <a:t>Prediction performance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C86B41B-3696-926E-736C-78AAB1EA3E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30971" y="4269641"/>
            <a:ext cx="7820652" cy="23955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3694DB-C9D2-23F3-F449-2C232A7C7CB1}"/>
              </a:ext>
            </a:extLst>
          </p:cNvPr>
          <p:cNvSpPr txBox="1"/>
          <p:nvPr/>
        </p:nvSpPr>
        <p:spPr>
          <a:xfrm>
            <a:off x="315883" y="1335663"/>
            <a:ext cx="1124712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/>
              <a:t>RMSE</a:t>
            </a:r>
            <a:r>
              <a:rPr lang="en-US" sz="2600" dirty="0"/>
              <a:t> (Root Mean Square Error) quantifies the average magnitude of errors between predicted values from a model and actual observed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/>
              <a:t>MAE</a:t>
            </a:r>
            <a:r>
              <a:rPr lang="en-US" sz="2600" dirty="0"/>
              <a:t>(mean absolute error) is a measure of the average magnitude of errors between paired observations.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/>
              <a:t>It is calculated by summing the absolute differences between predictions and actual values, then dividing by the number of observations.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6121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24B43-8B6E-0D4D-292D-D8BB7A84D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Predicted average happiness scores across major world regions in 2023 (including error)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0785D9D-1399-B02C-3CC4-887019B2DF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3561" r="8705"/>
          <a:stretch>
            <a:fillRect/>
          </a:stretch>
        </p:blipFill>
        <p:spPr>
          <a:xfrm>
            <a:off x="6096000" y="1286127"/>
            <a:ext cx="5865223" cy="49098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7C5FF5-F194-B265-3C47-C07666A5A7EB}"/>
              </a:ext>
            </a:extLst>
          </p:cNvPr>
          <p:cNvSpPr txBox="1"/>
          <p:nvPr/>
        </p:nvSpPr>
        <p:spPr>
          <a:xfrm>
            <a:off x="118752" y="1410789"/>
            <a:ext cx="597724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/>
              <a:t>The black “H” bars represent the </a:t>
            </a:r>
            <a:r>
              <a:rPr lang="en-US" sz="2600" b="1" dirty="0"/>
              <a:t>prediction error</a:t>
            </a:r>
            <a:r>
              <a:rPr lang="en-US" sz="2600" dirty="0"/>
              <a:t> or margin of error associated with that regional average.</a:t>
            </a:r>
          </a:p>
          <a:p>
            <a:endParaRPr lang="en-US" sz="2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/>
              <a:t>The fact that these error bars are relatively small indicates that the model's predictions are </a:t>
            </a:r>
            <a:r>
              <a:rPr lang="en-US" sz="2600" b="1" dirty="0"/>
              <a:t>precise</a:t>
            </a:r>
            <a:r>
              <a:rPr lang="en-US" sz="26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/>
              <a:t>This is consistent with the low overall error metrics found in the model's performance analysis.</a:t>
            </a:r>
          </a:p>
          <a:p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81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70122-AD91-7E81-F2AD-CE8F80998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949" y="365125"/>
            <a:ext cx="10948851" cy="1325563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Hypothesis 1: Does Corruption Affect Happiness After Controlling for GDP?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8CBC4A-55A5-E910-B77D-40425482D7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4949" y="1690688"/>
                <a:ext cx="10948851" cy="4802187"/>
              </a:xfrm>
            </p:spPr>
            <p:txBody>
              <a:bodyPr>
                <a:normAutofit/>
              </a:bodyPr>
              <a:lstStyle/>
              <a:p>
                <a:r>
                  <a:rPr lang="en-US" sz="2600" b="1" dirty="0"/>
                  <a:t>Null Hypothesis (H₀):</a:t>
                </a:r>
                <a:endParaRPr lang="en-US" sz="2600" dirty="0"/>
              </a:p>
              <a:p>
                <a:pPr marL="0" indent="0">
                  <a:buNone/>
                </a:pPr>
                <a:r>
                  <a:rPr lang="en-US" sz="2600" dirty="0"/>
                  <a:t>After controlling for GDP, corruption has no additional effect on happiness.</a:t>
                </a:r>
              </a:p>
              <a:p>
                <a:pPr marL="0" indent="0" algn="ctr">
                  <a:buNone/>
                </a:pPr>
                <a:r>
                  <a:rPr lang="en-US" sz="2600" dirty="0"/>
                  <a:t>H0 :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600" baseline="-25000" dirty="0" smtClean="0"/>
                      <m:t>Corrupti</m:t>
                    </m:r>
                    <m:r>
                      <m:rPr>
                        <m:nor/>
                      </m:rPr>
                      <a:rPr lang="en-US" sz="2600" b="0" i="0" baseline="-25000" dirty="0" smtClean="0"/>
                      <m:t>on</m:t>
                    </m:r>
                  </m:oMath>
                </a14:m>
                <a:r>
                  <a:rPr lang="en-US" sz="2600" dirty="0"/>
                  <a:t>= 0</a:t>
                </a:r>
              </a:p>
              <a:p>
                <a:r>
                  <a:rPr lang="en-US" sz="2600" b="1" dirty="0"/>
                  <a:t>Alternative Hypothesis (H₁):</a:t>
                </a:r>
                <a:endParaRPr lang="en-US" sz="2600" dirty="0"/>
              </a:p>
              <a:p>
                <a:pPr marL="0" indent="0">
                  <a:buNone/>
                </a:pPr>
                <a:r>
                  <a:rPr lang="en-US" sz="2600" dirty="0"/>
                  <a:t>After controlling for GDP, corruption does affect happiness.</a:t>
                </a:r>
              </a:p>
              <a:p>
                <a:pPr marL="0" indent="0" algn="ctr">
                  <a:buNone/>
                </a:pPr>
                <a:r>
                  <a:rPr lang="en-US" sz="2600" dirty="0"/>
                  <a:t>H1 :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600" baseline="-25000" dirty="0" smtClean="0"/>
                      <m:t>Corruptio</m:t>
                    </m:r>
                    <m:r>
                      <m:rPr>
                        <m:nor/>
                      </m:rPr>
                      <a:rPr lang="en-US" sz="2600" b="0" i="0" baseline="-25000" dirty="0" smtClean="0"/>
                      <m:t>n</m:t>
                    </m:r>
                  </m:oMath>
                </a14:m>
                <a:r>
                  <a:rPr lang="en-US" sz="2600" dirty="0"/>
                  <a:t>≠ 0</a:t>
                </a:r>
              </a:p>
              <a:p>
                <a:r>
                  <a:rPr lang="en-US" sz="2600" b="1" dirty="0"/>
                  <a:t>Regression Model:</a:t>
                </a:r>
                <a:endParaRPr lang="en-US" sz="2600" dirty="0"/>
              </a:p>
              <a:p>
                <a:pPr marL="0" indent="0">
                  <a:buNone/>
                </a:pPr>
                <a:r>
                  <a:rPr lang="en-US" sz="2600" dirty="0"/>
                  <a:t>We estimate the following model: </a:t>
                </a:r>
              </a:p>
              <a:p>
                <a:pPr marL="0" indent="0" algn="ctr">
                  <a:buNone/>
                </a:pPr>
                <a:r>
                  <a:rPr lang="en-US" sz="2600" dirty="0"/>
                  <a:t>Happiness =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6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l-GR" sz="2600" dirty="0"/>
                  <a:t> +</a:t>
                </a:r>
                <a:r>
                  <a:rPr lang="en-US" sz="26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6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sz="26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𝐺𝐷𝑃</m:t>
                    </m:r>
                  </m:oMath>
                </a14:m>
                <a:r>
                  <a:rPr lang="el-GR" sz="2600" baseline="-25000" dirty="0"/>
                  <a:t> </a:t>
                </a:r>
                <a:r>
                  <a:rPr lang="en-US" sz="2600" dirty="0"/>
                  <a:t>+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600" b="0" i="0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2600" b="0" i="0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corruption</m:t>
                    </m:r>
                  </m:oMath>
                </a14:m>
                <a:r>
                  <a:rPr lang="en-US" sz="2600" dirty="0"/>
                  <a:t>+ </a:t>
                </a:r>
                <a14:m>
                  <m:oMath xmlns:m="http://schemas.openxmlformats.org/officeDocument/2006/math">
                    <m:r>
                      <a:rPr lang="en-US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l-GR" sz="260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8CBC4A-55A5-E910-B77D-40425482D7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4949" y="1690688"/>
                <a:ext cx="10948851" cy="4802187"/>
              </a:xfrm>
              <a:blipFill>
                <a:blip r:embed="rId2"/>
                <a:stretch>
                  <a:fillRect l="-926" t="-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1550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BB01A-883A-1004-7BD1-DAC11EA7B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95569-C2B8-4FA0-FC3D-C30A7CC7A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2F59AB-C152-D509-1A2A-34EB98FC8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016" y="365125"/>
            <a:ext cx="8809967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446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9664D-F73C-23FC-1720-57D438912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Output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5BE4E2-F453-4B40-D462-537C2A8ECE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600" b="1" dirty="0"/>
                  <a:t>Extremely Small p-value</a:t>
                </a:r>
                <a:r>
                  <a:rPr lang="en-US" sz="2600" dirty="0"/>
                  <a:t>: The corruption coefficient is highly significant.(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−16</m:t>
                        </m:r>
                      </m:sup>
                    </m:sSup>
                  </m:oMath>
                </a14:m>
                <a:r>
                  <a:rPr lang="en-US" sz="2600" dirty="0"/>
                  <a:t>)</a:t>
                </a:r>
              </a:p>
              <a:p>
                <a:r>
                  <a:rPr lang="en-US" sz="2600" b="1" dirty="0"/>
                  <a:t>Comparison to</a:t>
                </a:r>
                <a14:m>
                  <m:oMath xmlns:m="http://schemas.openxmlformats.org/officeDocument/2006/math">
                    <m:r>
                      <a:rPr lang="zh-CN" altLang="en-US" sz="26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sz="2600" b="1" dirty="0"/>
                  <a:t> </a:t>
                </a:r>
                <a:r>
                  <a:rPr lang="en-US" sz="2600" dirty="0"/>
                  <a:t>: We compare the p-value to the standard significance level</a:t>
                </a:r>
                <a:r>
                  <a:rPr lang="zh-CN" altLang="en-US" sz="2600" dirty="0"/>
                  <a:t> </a:t>
                </a:r>
                <a14:m>
                  <m:oMath xmlns:m="http://schemas.openxmlformats.org/officeDocument/2006/math">
                    <m:r>
                      <a:rPr lang="en-US" sz="260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sz="2600" dirty="0"/>
                  <a:t>, which is 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0.05</m:t>
                    </m:r>
                  </m:oMath>
                </a14:m>
                <a:r>
                  <a:rPr lang="en-US" sz="2600" dirty="0"/>
                  <a:t>. Since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&lt;0.05</m:t>
                    </m:r>
                  </m:oMath>
                </a14:m>
                <a:r>
                  <a:rPr lang="en-US" sz="2600" dirty="0"/>
                  <a:t> we have strong evidence to reject the Null Hypothesis.</a:t>
                </a:r>
              </a:p>
              <a:p>
                <a:r>
                  <a:rPr lang="en-US" sz="2600" b="1" dirty="0"/>
                  <a:t>Conclusion</a:t>
                </a:r>
                <a:r>
                  <a:rPr lang="en-US" sz="2600" dirty="0"/>
                  <a:t>: Rejecting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600" b="0" i="1" baseline="-2500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600" dirty="0"/>
                  <a:t>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β</m:t>
                    </m:r>
                    <m:r>
                      <m:rPr>
                        <m:nor/>
                      </m:rPr>
                      <a:rPr lang="en-US" sz="2600" baseline="-25000" dirty="0" smtClean="0"/>
                      <m:t>Corruption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600" dirty="0"/>
                  <a:t> means that corruption does affect Happiness after controlling for GDP. The coefficient of 1.90772</a:t>
                </a:r>
                <a:r>
                  <a:rPr lang="zh-CN" altLang="en-US" sz="2600" dirty="0"/>
                  <a:t> </a:t>
                </a:r>
                <a:r>
                  <a:rPr lang="en-US" sz="2600" dirty="0"/>
                  <a:t>is statistically different from zero, confirming that corruption provides significant additional explanatory power beyond economic.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5BE4E2-F453-4B40-D462-537C2A8ECE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035" r="-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3225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643DC-9535-FA80-5AB5-EB4513862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Output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52B568EC-BCBE-442E-94DE-E5E761DCA1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12">
            <a:extLst>
              <a:ext uri="{FF2B5EF4-FFF2-40B4-BE49-F238E27FC236}">
                <a16:creationId xmlns:a16="http://schemas.microsoft.com/office/drawing/2014/main" id="{CCAFE23A-892D-304F-31DF-F3556FD6E9B2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535860" y="1436914"/>
            <a:ext cx="4223374" cy="474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r>
              <a:rPr lang="en-US" b="1" dirty="0"/>
              <a:t>X-axis</a:t>
            </a:r>
            <a:r>
              <a:rPr lang="en-US" dirty="0"/>
              <a:t>: "Perception of Corruption" </a:t>
            </a:r>
          </a:p>
          <a:p>
            <a:r>
              <a:rPr lang="en-US" b="1" dirty="0"/>
              <a:t> Y-axis</a:t>
            </a:r>
            <a:r>
              <a:rPr lang="en-US" dirty="0"/>
              <a:t>: "Happiness Score" </a:t>
            </a:r>
          </a:p>
          <a:p>
            <a:r>
              <a:rPr lang="en-US" b="1" dirty="0"/>
              <a:t>Points</a:t>
            </a:r>
            <a:r>
              <a:rPr lang="en-US" dirty="0"/>
              <a:t>: Colored by GDP (black = lower GDP, darker black = higher GDP)</a:t>
            </a:r>
          </a:p>
          <a:p>
            <a:r>
              <a:rPr lang="en-US" b="1" dirty="0"/>
              <a:t>The Counterintuitive result</a:t>
            </a:r>
            <a:r>
              <a:rPr lang="en-US" dirty="0"/>
              <a:t>: as Corruption Perception increases Happiness increases.</a:t>
            </a:r>
          </a:p>
          <a:p>
            <a:r>
              <a:rPr lang="en-US" dirty="0"/>
              <a:t>Higher X-values = LESS corruption perceived in the dataset.</a:t>
            </a:r>
          </a:p>
          <a:p>
            <a:endParaRPr lang="en-US" dirty="0"/>
          </a:p>
        </p:txBody>
      </p:sp>
      <p:sp>
        <p:nvSpPr>
          <p:cNvPr id="11" name="AutoShape 14">
            <a:extLst>
              <a:ext uri="{FF2B5EF4-FFF2-40B4-BE49-F238E27FC236}">
                <a16:creationId xmlns:a16="http://schemas.microsoft.com/office/drawing/2014/main" id="{84B3A98F-CDAE-6284-6B7B-4648707AD5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51536D-E74B-6C78-409E-5527EFC195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77" r="7577"/>
          <a:stretch>
            <a:fillRect/>
          </a:stretch>
        </p:blipFill>
        <p:spPr>
          <a:xfrm>
            <a:off x="5246121" y="365125"/>
            <a:ext cx="6594567" cy="47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389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1C556-FE0D-C0C5-1761-7377A14CF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0C645-42B4-4D7C-3296-08D216BFF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85" y="1563613"/>
            <a:ext cx="10515600" cy="4351338"/>
          </a:xfrm>
        </p:spPr>
        <p:txBody>
          <a:bodyPr/>
          <a:lstStyle/>
          <a:p>
            <a:r>
              <a:rPr lang="en-US" sz="2600" dirty="0"/>
              <a:t> It works by building multiple </a:t>
            </a:r>
            <a:r>
              <a:rPr lang="en-US" sz="2600" b="1" dirty="0"/>
              <a:t>decision trees</a:t>
            </a:r>
            <a:r>
              <a:rPr lang="en-US" sz="2600" dirty="0"/>
              <a:t> during training and outputting the average prediction (for regression) or the majority vote (for classification) of the in dividual trees.</a:t>
            </a:r>
          </a:p>
          <a:p>
            <a:endParaRPr lang="en-US" dirty="0"/>
          </a:p>
        </p:txBody>
      </p:sp>
      <p:pic>
        <p:nvPicPr>
          <p:cNvPr id="9" name="그림 7">
            <a:extLst>
              <a:ext uri="{FF2B5EF4-FFF2-40B4-BE49-F238E27FC236}">
                <a16:creationId xmlns:a16="http://schemas.microsoft.com/office/drawing/2014/main" id="{2A874191-6B79-A7B4-FC05-5A6E690AC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534" y="2889176"/>
            <a:ext cx="7835300" cy="1463722"/>
          </a:xfrm>
          <a:prstGeom prst="rect">
            <a:avLst/>
          </a:prstGeom>
          <a:ln cap="flat"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900B79B-0956-79A3-2CAF-9AD996858B6B}"/>
              </a:ext>
            </a:extLst>
          </p:cNvPr>
          <p:cNvSpPr txBox="1"/>
          <p:nvPr/>
        </p:nvSpPr>
        <p:spPr>
          <a:xfrm>
            <a:off x="980315" y="4441427"/>
            <a:ext cx="722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/>
              <a:t>model’s robustness and checked for overfitting</a:t>
            </a:r>
          </a:p>
        </p:txBody>
      </p:sp>
    </p:spTree>
    <p:extLst>
      <p:ext uri="{BB962C8B-B14F-4D97-AF65-F5344CB8AC3E}">
        <p14:creationId xmlns:p14="http://schemas.microsoft.com/office/powerpoint/2010/main" val="1329902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F1275-3AD8-5744-C9B1-F508F4DF6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6158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SHAP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4F065-C0D8-2513-26DD-E94DA48E1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639" y="1825625"/>
            <a:ext cx="4892634" cy="4351338"/>
          </a:xfrm>
        </p:spPr>
        <p:txBody>
          <a:bodyPr>
            <a:normAutofit/>
          </a:bodyPr>
          <a:lstStyle/>
          <a:p>
            <a:r>
              <a:rPr lang="en-US" dirty="0"/>
              <a:t>The </a:t>
            </a:r>
            <a:r>
              <a:rPr lang="en-US" b="1" dirty="0"/>
              <a:t>SHAP plot</a:t>
            </a:r>
            <a:r>
              <a:rPr lang="en-US" dirty="0"/>
              <a:t> explains how each feature contributes to predictions, enhancing model interpretability.</a:t>
            </a:r>
          </a:p>
          <a:p>
            <a:r>
              <a:rPr lang="en-US" dirty="0" err="1"/>
              <a:t>gdp_per_capital</a:t>
            </a:r>
            <a:r>
              <a:rPr lang="en-US" dirty="0"/>
              <a:t> (+1.396) :largest positive contributor</a:t>
            </a:r>
          </a:p>
          <a:p>
            <a:r>
              <a:rPr lang="en-US" dirty="0" err="1"/>
              <a:t>social_support</a:t>
            </a:r>
            <a:r>
              <a:rPr lang="en-US" dirty="0"/>
              <a:t> (+1.350): second largest contributor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그림 6">
            <a:extLst>
              <a:ext uri="{FF2B5EF4-FFF2-40B4-BE49-F238E27FC236}">
                <a16:creationId xmlns:a16="http://schemas.microsoft.com/office/drawing/2014/main" id="{2CB94F59-50EE-C29E-FF7D-2D4A1CC2DF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6903" y="1329690"/>
            <a:ext cx="6630035" cy="4198620"/>
          </a:xfrm>
          <a:prstGeom prst="rect">
            <a:avLst/>
          </a:prstGeom>
          <a:ln cap="flat"/>
        </p:spPr>
      </p:pic>
    </p:spTree>
    <p:extLst>
      <p:ext uri="{BB962C8B-B14F-4D97-AF65-F5344CB8AC3E}">
        <p14:creationId xmlns:p14="http://schemas.microsoft.com/office/powerpoint/2010/main" val="2124762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1C2BA-AF07-CF81-2C54-8879FB1D5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73BCD-DD55-10C3-E6A5-FCEAD403F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00699" cy="4351338"/>
          </a:xfrm>
        </p:spPr>
        <p:txBody>
          <a:bodyPr/>
          <a:lstStyle/>
          <a:p>
            <a:r>
              <a:rPr lang="en-US" dirty="0"/>
              <a:t>Cross-validation scores are consistent: Low variance between folds</a:t>
            </a:r>
          </a:p>
          <a:p>
            <a:r>
              <a:rPr lang="en-US" dirty="0"/>
              <a:t>Random Forest model explains 81% of the variance in happiness scores across countries, which is very strong performance. </a:t>
            </a:r>
          </a:p>
        </p:txBody>
      </p:sp>
      <p:pic>
        <p:nvPicPr>
          <p:cNvPr id="4" name="그림 5">
            <a:extLst>
              <a:ext uri="{FF2B5EF4-FFF2-40B4-BE49-F238E27FC236}">
                <a16:creationId xmlns:a16="http://schemas.microsoft.com/office/drawing/2014/main" id="{83353D2A-9DDA-44C8-B22A-67B8EB206E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6915" y="1585538"/>
            <a:ext cx="6148148" cy="3686923"/>
          </a:xfrm>
          <a:prstGeom prst="rect">
            <a:avLst/>
          </a:prstGeom>
          <a:ln cap="flat"/>
        </p:spPr>
      </p:pic>
    </p:spTree>
    <p:extLst>
      <p:ext uri="{BB962C8B-B14F-4D97-AF65-F5344CB8AC3E}">
        <p14:creationId xmlns:p14="http://schemas.microsoft.com/office/powerpoint/2010/main" val="3543923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39EBD-43FB-AAF2-A4B6-912B774D8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XGBOOST(</a:t>
            </a:r>
            <a:r>
              <a:rPr lang="en-US" dirty="0" err="1"/>
              <a:t>eXtreme</a:t>
            </a:r>
            <a:r>
              <a:rPr lang="en-US" dirty="0"/>
              <a:t> Gradient Boosting)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7B404-ACFB-E41B-2B2F-C341612B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dirty="0"/>
              <a:t>is an implementation of gradient boosted decision trees designed for speed and performance. </a:t>
            </a:r>
          </a:p>
        </p:txBody>
      </p:sp>
      <p:pic>
        <p:nvPicPr>
          <p:cNvPr id="4" name="그림 7">
            <a:extLst>
              <a:ext uri="{FF2B5EF4-FFF2-40B4-BE49-F238E27FC236}">
                <a16:creationId xmlns:a16="http://schemas.microsoft.com/office/drawing/2014/main" id="{2450C58E-BEB6-5013-27E0-ABE0D1842B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86" y="2001664"/>
            <a:ext cx="5795762" cy="1325563"/>
          </a:xfrm>
          <a:prstGeom prst="rect">
            <a:avLst/>
          </a:prstGeom>
          <a:ln cap="flat"/>
        </p:spPr>
      </p:pic>
      <p:pic>
        <p:nvPicPr>
          <p:cNvPr id="5" name="그림 7">
            <a:extLst>
              <a:ext uri="{FF2B5EF4-FFF2-40B4-BE49-F238E27FC236}">
                <a16:creationId xmlns:a16="http://schemas.microsoft.com/office/drawing/2014/main" id="{F6D4C74B-2826-B073-FFEA-A45E50A08D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72" y="3327228"/>
            <a:ext cx="6636385" cy="1239751"/>
          </a:xfrm>
          <a:prstGeom prst="rect">
            <a:avLst/>
          </a:prstGeom>
          <a:ln cap="flat"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69BF47-147A-1301-E90B-6A1558B367C1}"/>
              </a:ext>
            </a:extLst>
          </p:cNvPr>
          <p:cNvSpPr txBox="1"/>
          <p:nvPr/>
        </p:nvSpPr>
        <p:spPr>
          <a:xfrm>
            <a:off x="526472" y="4550083"/>
            <a:ext cx="11515107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Happiness scores are inherently noisy, subjective measures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They range from ~2.5 to ~7.5 (5-point range)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An RMSE of 0.05 means average prediction error is only 1% of the total range. This suggests the model is predicting with near-perfect accuracy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831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9B748-6437-A3B8-69AA-14DF67977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156"/>
            <a:ext cx="10515600" cy="1325563"/>
          </a:xfrm>
        </p:spPr>
        <p:txBody>
          <a:bodyPr/>
          <a:lstStyle/>
          <a:p>
            <a:r>
              <a:rPr lang="en-US" dirty="0"/>
              <a:t>Comparing Models</a:t>
            </a:r>
          </a:p>
        </p:txBody>
      </p:sp>
      <p:pic>
        <p:nvPicPr>
          <p:cNvPr id="4" name="그림 10">
            <a:extLst>
              <a:ext uri="{FF2B5EF4-FFF2-40B4-BE49-F238E27FC236}">
                <a16:creationId xmlns:a16="http://schemas.microsoft.com/office/drawing/2014/main" id="{C317500D-C222-73CB-0E1B-544902294C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936" y="4422500"/>
            <a:ext cx="5917558" cy="1626956"/>
          </a:xfrm>
          <a:prstGeom prst="rect">
            <a:avLst/>
          </a:prstGeom>
          <a:ln cap="flat"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0480E8-B8C1-9471-9202-74F22B5FEC36}"/>
              </a:ext>
            </a:extLst>
          </p:cNvPr>
          <p:cNvSpPr txBox="1"/>
          <p:nvPr/>
        </p:nvSpPr>
        <p:spPr>
          <a:xfrm>
            <a:off x="552296" y="975295"/>
            <a:ext cx="1019808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RMSE lower is better, </a:t>
            </a:r>
            <a:r>
              <a:rPr lang="en-US" sz="2600" dirty="0" err="1"/>
              <a:t>R_squared</a:t>
            </a:r>
            <a:r>
              <a:rPr lang="en-US" sz="2600" dirty="0"/>
              <a:t> is higher is better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 err="1"/>
              <a:t>XGBoost</a:t>
            </a:r>
            <a:r>
              <a:rPr lang="en-US" sz="2600" dirty="0"/>
              <a:t> dominates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/>
              <a:t>Tree-based boosting algorithms (</a:t>
            </a:r>
            <a:r>
              <a:rPr lang="en-US" sz="2600" dirty="0" err="1"/>
              <a:t>XGBoost</a:t>
            </a:r>
            <a:r>
              <a:rPr lang="en-US" sz="2600" dirty="0"/>
              <a:t>, </a:t>
            </a:r>
            <a:r>
              <a:rPr lang="en-US" sz="2600" dirty="0" err="1"/>
              <a:t>LightGBM</a:t>
            </a:r>
            <a:r>
              <a:rPr lang="en-US" sz="2600" dirty="0"/>
              <a:t>) clearly outperform traditional methods for this happiness prediction task</a:t>
            </a:r>
          </a:p>
        </p:txBody>
      </p:sp>
      <p:pic>
        <p:nvPicPr>
          <p:cNvPr id="6" name="그림 7">
            <a:extLst>
              <a:ext uri="{FF2B5EF4-FFF2-40B4-BE49-F238E27FC236}">
                <a16:creationId xmlns:a16="http://schemas.microsoft.com/office/drawing/2014/main" id="{00AAFBCB-E421-DA7C-5A1C-9E8B46E41C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936" y="3186517"/>
            <a:ext cx="5982730" cy="1117641"/>
          </a:xfrm>
          <a:prstGeom prst="rect">
            <a:avLst/>
          </a:prstGeom>
          <a:ln cap="flat"/>
        </p:spPr>
      </p:pic>
    </p:spTree>
    <p:extLst>
      <p:ext uri="{BB962C8B-B14F-4D97-AF65-F5344CB8AC3E}">
        <p14:creationId xmlns:p14="http://schemas.microsoft.com/office/powerpoint/2010/main" val="2999399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8F819-E696-5122-6A51-877DC0A4E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plm</a:t>
            </a:r>
            <a:r>
              <a:rPr lang="en-US" b="1" dirty="0"/>
              <a:t> - </a:t>
            </a:r>
            <a:r>
              <a:rPr lang="en-US" b="1" dirty="0" err="1"/>
              <a:t>Timeregression</a:t>
            </a:r>
            <a:r>
              <a:rPr lang="en-US" b="1" dirty="0"/>
              <a:t> (Panel Data Regression</a:t>
            </a:r>
            <a:r>
              <a:rPr lang="en-US" dirty="0"/>
              <a:t> 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D2CC3-670C-E0B3-D98C-3F0AAD485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27566" cy="4351338"/>
          </a:xfrm>
        </p:spPr>
        <p:txBody>
          <a:bodyPr/>
          <a:lstStyle/>
          <a:p>
            <a:r>
              <a:rPr lang="en-US" dirty="0"/>
              <a:t>The plot shows how each variable's coefficient (impact on happiness) evolves from 2016 to 2022</a:t>
            </a:r>
          </a:p>
          <a:p>
            <a:r>
              <a:rPr lang="en-US" dirty="0"/>
              <a:t>Social support might have spiked in importance during 2020-2021 (pandemic years)</a:t>
            </a:r>
          </a:p>
        </p:txBody>
      </p:sp>
      <p:pic>
        <p:nvPicPr>
          <p:cNvPr id="4" name="그림 12">
            <a:extLst>
              <a:ext uri="{FF2B5EF4-FFF2-40B4-BE49-F238E27FC236}">
                <a16:creationId xmlns:a16="http://schemas.microsoft.com/office/drawing/2014/main" id="{0DB413B3-FC52-0DB6-63C7-76FE0EE971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5766" y="1445615"/>
            <a:ext cx="6630670" cy="4166870"/>
          </a:xfrm>
          <a:prstGeom prst="rect">
            <a:avLst/>
          </a:prstGeom>
          <a:ln cap="flat"/>
        </p:spPr>
      </p:pic>
    </p:spTree>
    <p:extLst>
      <p:ext uri="{BB962C8B-B14F-4D97-AF65-F5344CB8AC3E}">
        <p14:creationId xmlns:p14="http://schemas.microsoft.com/office/powerpoint/2010/main" val="22615296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C1F17-CBEB-CA13-AFA2-769E9BB94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607DD-0D57-365A-0901-7BBE9E923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/>
              <a:t>World Happiness Analysis and Prediction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Q&amp;A</a:t>
            </a:r>
          </a:p>
          <a:p>
            <a:pPr marL="0" indent="0" algn="ctr">
              <a:buNone/>
            </a:pPr>
            <a:r>
              <a:rPr lang="en-US" b="1" dirty="0"/>
              <a:t>Thank you for listening</a:t>
            </a:r>
          </a:p>
        </p:txBody>
      </p:sp>
    </p:spTree>
    <p:extLst>
      <p:ext uri="{BB962C8B-B14F-4D97-AF65-F5344CB8AC3E}">
        <p14:creationId xmlns:p14="http://schemas.microsoft.com/office/powerpoint/2010/main" val="819725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1682</TotalTime>
  <Words>915</Words>
  <Application>Microsoft Macintosh PowerPoint</Application>
  <PresentationFormat>Widescreen</PresentationFormat>
  <Paragraphs>90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ArialMT</vt:lpstr>
      <vt:lpstr>Aptos</vt:lpstr>
      <vt:lpstr>Aptos Display</vt:lpstr>
      <vt:lpstr>Arial</vt:lpstr>
      <vt:lpstr>Cambria Math</vt:lpstr>
      <vt:lpstr>Office Theme</vt:lpstr>
      <vt:lpstr>World Happiness Analysis and Prediction</vt:lpstr>
      <vt:lpstr>Dataset</vt:lpstr>
      <vt:lpstr>PowerPoint Presentation</vt:lpstr>
      <vt:lpstr>Regression model</vt:lpstr>
      <vt:lpstr>Relationship between dependent variable &amp; six explanatory variables</vt:lpstr>
      <vt:lpstr>Heat map  </vt:lpstr>
      <vt:lpstr>Prediction performance</vt:lpstr>
      <vt:lpstr>Prediction performance</vt:lpstr>
      <vt:lpstr>Predicted average happiness scores across major world regions in 2023 (including error)  </vt:lpstr>
      <vt:lpstr> Hypothesis 1: Does Corruption Affect Happiness After Controlling for GDP? </vt:lpstr>
      <vt:lpstr>PowerPoint Presentation</vt:lpstr>
      <vt:lpstr>Model Output</vt:lpstr>
      <vt:lpstr>Model Output</vt:lpstr>
      <vt:lpstr>Random Forest </vt:lpstr>
      <vt:lpstr> SHAP </vt:lpstr>
      <vt:lpstr>Random Forest </vt:lpstr>
      <vt:lpstr>XGBOOST(eXtreme Gradient Boosting)</vt:lpstr>
      <vt:lpstr>Comparing Models</vt:lpstr>
      <vt:lpstr>plm - Timeregression (Panel Data Regression 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keqi zhang</dc:creator>
  <cp:lastModifiedBy>keqi zhang</cp:lastModifiedBy>
  <cp:revision>5</cp:revision>
  <dcterms:created xsi:type="dcterms:W3CDTF">2025-12-07T22:28:32Z</dcterms:created>
  <dcterms:modified xsi:type="dcterms:W3CDTF">2025-12-09T13:30:16Z</dcterms:modified>
</cp:coreProperties>
</file>